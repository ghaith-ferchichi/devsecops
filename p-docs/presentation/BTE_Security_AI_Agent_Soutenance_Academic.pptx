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15600" cy="18288"/>
          </a:xfrm>
          <a:prstGeom prst="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2194560" cy="18288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B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3255745" cy="548640"/>
          </a:xfrm>
          <a:prstGeom prst="rect">
            <a:avLst/>
          </a:prstGeom>
        </p:spPr>
      </p:pic>
      <p:pic>
        <p:nvPicPr>
          <p:cNvPr id="6" name="Picture 5" descr="Logo_UT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7649" y="457200"/>
            <a:ext cx="641223" cy="603504"/>
          </a:xfrm>
          <a:prstGeom prst="rect">
            <a:avLst/>
          </a:prstGeom>
        </p:spPr>
      </p:pic>
      <p:pic>
        <p:nvPicPr>
          <p:cNvPr id="7" name="Picture 6" descr="LogoI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745" y="512064"/>
            <a:ext cx="1060704" cy="530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57A82"/>
                </a:solidFill>
                <a:latin typeface="Segoe UI"/>
              </a:rPr>
              <a:t>RAPPORT DE STAGE DE FIN D'ÉTUDES  ·  MASTÈRE PROFESSIONNEL SSI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1E2A44"/>
                </a:solidFill>
                <a:latin typeface="Georgia"/>
              </a:rPr>
              <a:t>BTE Security AI Agent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 i="1">
                <a:solidFill>
                  <a:srgbClr val="33405C"/>
                </a:solidFill>
                <a:latin typeface="Segoe UI"/>
              </a:rPr>
              <a:t>Agent IA agentique pour la revue automatisée de sécurité du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11480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2415" y="4178808"/>
            <a:ext cx="18288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B6256"/>
                </a:solidFill>
                <a:latin typeface="Segoe UI"/>
              </a:rPr>
              <a:t>Réalisé par  </a:t>
            </a:r>
            <a:r>
              <a:rPr sz="1400" b="1" i="0">
                <a:solidFill>
                  <a:srgbClr val="1E2A44"/>
                </a:solidFill>
                <a:latin typeface="Georgia"/>
              </a:rPr>
              <a:t>Ghaith FERCHICHI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256"/>
                </a:solidFill>
                <a:latin typeface="Segoe UI"/>
              </a:rPr>
              <a:t>Encadrant pro : </a:t>
            </a:r>
            <a:r>
              <a:rPr sz="1200" b="0" i="0">
                <a:solidFill>
                  <a:srgbClr val="33405C"/>
                </a:solidFill>
                <a:latin typeface="Segoe UI"/>
              </a:rPr>
              <a:t>M. Kamel KAOUECH</a:t>
            </a:r>
            <a:r>
              <a:rPr sz="1200" b="0" i="0">
                <a:solidFill>
                  <a:srgbClr val="6B6256"/>
                </a:solidFill>
                <a:latin typeface="Segoe UI"/>
              </a:rPr>
              <a:t>     Encadrante ISI : </a:t>
            </a:r>
            <a:r>
              <a:rPr sz="1200" b="0" i="0">
                <a:solidFill>
                  <a:srgbClr val="33405C"/>
                </a:solidFill>
                <a:latin typeface="Segoe UI"/>
              </a:rPr>
              <a:t>Mme Ghayet El Mouna ZHIOUA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B6256"/>
                </a:solidFill>
                <a:latin typeface="Segoe UI"/>
              </a:rPr>
              <a:t>Banque de Tunisie et des Émirats  ·  Année universitaire 2025–2026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126480"/>
            <a:ext cx="10515600" cy="18288"/>
          </a:xfrm>
          <a:prstGeom prst="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34856" y="6126480"/>
            <a:ext cx="2203704" cy="18288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28800"/>
            <a:ext cx="822960" cy="822960"/>
          </a:xfrm>
          <a:prstGeom prst="roundRect">
            <a:avLst/>
          </a:prstGeom>
          <a:solidFill>
            <a:srgbClr val="F3EEE3"/>
          </a:solidFill>
          <a:ln w="12700">
            <a:solidFill>
              <a:srgbClr val="E3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2996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57A82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029968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Contexte &amp; problématique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80360"/>
            <a:ext cx="822960" cy="822960"/>
          </a:xfrm>
          <a:prstGeom prst="roundRect">
            <a:avLst/>
          </a:prstGeom>
          <a:solidFill>
            <a:srgbClr val="F3EEE3"/>
          </a:solidFill>
          <a:ln w="12700">
            <a:solidFill>
              <a:srgbClr val="E3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8152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57A82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081528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Objectifs &amp; positionnement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822960" cy="822960"/>
          </a:xfrm>
          <a:prstGeom prst="roundRect">
            <a:avLst/>
          </a:prstGeom>
          <a:solidFill>
            <a:srgbClr val="F3EEE3"/>
          </a:solidFill>
          <a:ln w="12700">
            <a:solidFill>
              <a:srgbClr val="E3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33087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E2A44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133087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Architecture de la solution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79"/>
            <a:ext cx="822960" cy="822960"/>
          </a:xfrm>
          <a:prstGeom prst="roundRect">
            <a:avLst/>
          </a:prstGeom>
          <a:solidFill>
            <a:srgbClr val="F3EEE3"/>
          </a:solidFill>
          <a:ln w="12700">
            <a:solidFill>
              <a:srgbClr val="E3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84647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E4C7A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184647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L'IA agentique au cœur du système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828800"/>
            <a:ext cx="822960" cy="822960"/>
          </a:xfrm>
          <a:prstGeom prst="roundRect">
            <a:avLst/>
          </a:prstGeom>
          <a:solidFill>
            <a:srgbClr val="F3EEE3"/>
          </a:solidFill>
          <a:ln w="12700">
            <a:solidFill>
              <a:srgbClr val="E3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2996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F7D52"/>
                </a:solidFill>
                <a:latin typeface="Georgia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029968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Pipeline de sécurité &amp; bénéfices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880360"/>
            <a:ext cx="822960" cy="822960"/>
          </a:xfrm>
          <a:prstGeom prst="roundRect">
            <a:avLst/>
          </a:prstGeom>
          <a:solidFill>
            <a:srgbClr val="F3EEE3"/>
          </a:solidFill>
          <a:ln w="12700">
            <a:solidFill>
              <a:srgbClr val="E3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08152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E2A44"/>
                </a:solidFill>
                <a:latin typeface="Georgia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081528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Démonstration &amp; résultats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931920"/>
            <a:ext cx="822960" cy="822960"/>
          </a:xfrm>
          <a:prstGeom prst="roundRect">
            <a:avLst/>
          </a:prstGeom>
          <a:solidFill>
            <a:srgbClr val="F3EEE3"/>
          </a:solidFill>
          <a:ln w="12700">
            <a:solidFill>
              <a:srgbClr val="E3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133087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6B6256"/>
                </a:solidFill>
                <a:latin typeface="Georgia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133087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Limites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417320"/>
            <a:ext cx="54864" cy="310896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7A82"/>
                </a:solidFill>
                <a:latin typeface="Segoe UI"/>
              </a:rP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A44"/>
                </a:solidFill>
                <a:latin typeface="Georgia"/>
              </a:rPr>
              <a:t>Une seule injection SQL fusionnée dans une API de paiement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57A82"/>
                </a:solidFill>
                <a:latin typeface="Georgia"/>
              </a:rPr>
              <a:t>peut compromettre toute la banque.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33405C"/>
                </a:solidFill>
                <a:latin typeface="Segoe UI"/>
              </a:rPr>
              <a:t>Aujourd'hui à la BTE, la revue de sécurité est </a:t>
            </a:r>
            <a:r>
              <a:rPr sz="1800" b="1" i="0">
                <a:solidFill>
                  <a:srgbClr val="C2912E"/>
                </a:solidFill>
                <a:latin typeface="Georgia"/>
              </a:rPr>
              <a:t>manuelle</a:t>
            </a:r>
            <a:r>
              <a:rPr sz="1800" b="0" i="0">
                <a:solidFill>
                  <a:srgbClr val="33405C"/>
                </a:solidFill>
                <a:latin typeface="Segoe UI"/>
              </a:rPr>
              <a:t>, prend </a:t>
            </a:r>
            <a:r>
              <a:rPr sz="1800" b="1" i="0">
                <a:solidFill>
                  <a:srgbClr val="C2912E"/>
                </a:solidFill>
                <a:latin typeface="Georgia"/>
              </a:rPr>
              <a:t>plus de 48 h</a:t>
            </a:r>
            <a:r>
              <a:rPr sz="1800" b="0" i="0">
                <a:solidFill>
                  <a:srgbClr val="33405C"/>
                </a:solidFill>
                <a:latin typeface="Segoe UI"/>
              </a:rPr>
              <a:t>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33405C"/>
                </a:solidFill>
                <a:latin typeface="Segoe UI"/>
              </a:rPr>
              <a:t>et dépend entièrement du relecteur de garde.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989320"/>
            <a:ext cx="10515600" cy="18288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01 ·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Le processus de revue actuel (AS-IS)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44948" y="1554480"/>
            <a:ext cx="2059543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sis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388" y="1645920"/>
            <a:ext cx="1876663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272783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256"/>
                </a:solidFill>
                <a:latin typeface="Segoe UI"/>
              </a:rPr>
              <a:t>Processus AS-IS à la BTE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8288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A44"/>
                </a:solidFill>
                <a:latin typeface="Georgia"/>
              </a:rPr>
              <a:t>Limites identifiées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2423160"/>
            <a:ext cx="146304" cy="146304"/>
          </a:xfrm>
          <a:prstGeom prst="ellipse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3591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44"/>
                </a:solidFill>
                <a:latin typeface="Georgia"/>
              </a:rPr>
              <a:t>Délai de revue &gt; 48 h — </a:t>
            </a:r>
            <a:r>
              <a:rPr sz="1200" b="0" i="0">
                <a:solidFill>
                  <a:srgbClr val="33405C"/>
                </a:solidFill>
                <a:latin typeface="Segoe UI"/>
              </a:rPr>
              <a:t>livraison ralentie, vulnérabilités exposées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3200400"/>
            <a:ext cx="146304" cy="146304"/>
          </a:xfrm>
          <a:prstGeom prst="ellipse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1363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44"/>
                </a:solidFill>
                <a:latin typeface="Georgia"/>
              </a:rPr>
              <a:t>Qualité variable — </a:t>
            </a:r>
            <a:r>
              <a:rPr sz="1200" b="0" i="0">
                <a:solidFill>
                  <a:srgbClr val="33405C"/>
                </a:solidFill>
                <a:latin typeface="Segoe UI"/>
              </a:rPr>
              <a:t>dépend du relecteur du jour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3977639"/>
            <a:ext cx="146304" cy="146304"/>
          </a:xfrm>
          <a:prstGeom prst="ellipse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391363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44"/>
                </a:solidFill>
                <a:latin typeface="Georgia"/>
              </a:rPr>
              <a:t>Aucun gate CI/CD — </a:t>
            </a:r>
            <a:r>
              <a:rPr sz="1200" b="0" i="0">
                <a:solidFill>
                  <a:srgbClr val="33405C"/>
                </a:solidFill>
                <a:latin typeface="Segoe UI"/>
              </a:rPr>
              <a:t>une PR vulnérable peut être fusionnée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4754879"/>
            <a:ext cx="146304" cy="146304"/>
          </a:xfrm>
          <a:prstGeom prst="ellipse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469087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44"/>
                </a:solidFill>
                <a:latin typeface="Georgia"/>
              </a:rPr>
              <a:t>Secrets &amp; dépendances — </a:t>
            </a:r>
            <a:r>
              <a:rPr sz="1200" b="0" i="0">
                <a:solidFill>
                  <a:srgbClr val="33405C"/>
                </a:solidFill>
                <a:latin typeface="Segoe UI"/>
              </a:rPr>
              <a:t>angles morts de l'œil humain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02 ·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La contribution en une phrase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28800"/>
            <a:ext cx="10698480" cy="1920240"/>
          </a:xfrm>
          <a:prstGeom prst="roundRect">
            <a:avLst/>
          </a:prstGeom>
          <a:solidFill>
            <a:srgbClr val="F3EEE3"/>
          </a:solidFill>
          <a:ln w="1524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828800"/>
            <a:ext cx="109728" cy="192024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05740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33405C"/>
                </a:solidFill>
                <a:latin typeface="Segoe UI"/>
              </a:rPr>
              <a:t>Un </a:t>
            </a:r>
            <a:r>
              <a:rPr sz="2100" b="1" i="0">
                <a:solidFill>
                  <a:srgbClr val="3E4C7A"/>
                </a:solidFill>
                <a:latin typeface="Georgia"/>
              </a:rPr>
              <a:t>agent IA autonome</a:t>
            </a:r>
            <a:r>
              <a:rPr sz="2100" b="0" i="0">
                <a:solidFill>
                  <a:srgbClr val="33405C"/>
                </a:solidFill>
                <a:latin typeface="Segoe UI"/>
              </a:rPr>
              <a:t> qui revoit chaque Pull Request selon l'</a:t>
            </a:r>
            <a:r>
              <a:rPr sz="2100" b="1" i="0">
                <a:solidFill>
                  <a:srgbClr val="1E2A44"/>
                </a:solidFill>
                <a:latin typeface="Georgia"/>
              </a:rPr>
              <a:t>OWASP Top 10</a:t>
            </a:r>
            <a:r>
              <a:rPr sz="2100" b="0" i="0">
                <a:solidFill>
                  <a:srgbClr val="33405C"/>
                </a:solidFill>
                <a:latin typeface="Segoe UI"/>
              </a:rPr>
              <a:t> en </a:t>
            </a:r>
            <a:r>
              <a:rPr sz="2100" b="1" i="0">
                <a:solidFill>
                  <a:srgbClr val="1E2A44"/>
                </a:solidFill>
                <a:latin typeface="Georgia"/>
              </a:rPr>
              <a:t>15 minutes</a:t>
            </a:r>
            <a:r>
              <a:rPr sz="2100" b="0" i="0">
                <a:solidFill>
                  <a:srgbClr val="33405C"/>
                </a:solidFill>
                <a:latin typeface="Segoe UI"/>
              </a:rPr>
              <a:t>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33405C"/>
                </a:solidFill>
                <a:latin typeface="Segoe UI"/>
              </a:rPr>
              <a:t>publie les correctifs sur GitHub, et s'exécute </a:t>
            </a:r>
            <a:r>
              <a:rPr sz="2100" b="1" i="0">
                <a:solidFill>
                  <a:srgbClr val="2F7D52"/>
                </a:solidFill>
                <a:latin typeface="Georgia"/>
              </a:rPr>
              <a:t>100 % en local</a:t>
            </a:r>
            <a:r>
              <a:rPr sz="2100" b="0" i="0">
                <a:solidFill>
                  <a:srgbClr val="33405C"/>
                </a:solidFill>
                <a:latin typeface="Segoe UI"/>
              </a:rPr>
              <a:t> — aucun code ne quitte la banque.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57A82"/>
                </a:solidFill>
                <a:latin typeface="Georgia"/>
              </a:rPr>
              <a:t>48 h → 15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256"/>
                </a:solidFill>
                <a:latin typeface="Segoe UI"/>
              </a:rPr>
              <a:t>délai de revue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11480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34340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F7D52"/>
                </a:solidFill>
                <a:latin typeface="Georgia"/>
              </a:rPr>
              <a:t>5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0292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256"/>
                </a:solidFill>
                <a:latin typeface="Segoe UI"/>
              </a:rPr>
              <a:t>vulnérabilités détectées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411480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434340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3E4C7A"/>
                </a:solidFill>
                <a:latin typeface="Georgia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50292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256"/>
                </a:solidFill>
                <a:latin typeface="Segoe UI"/>
              </a:rPr>
              <a:t>ligne de code ne sort du VPS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02 · POSITIONNEMENT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Pourquoi aucune solution existante ne convient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04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182880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931920"/>
                <a:gridCol w="1463040"/>
                <a:gridCol w="2194560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Solution</a:t>
                      </a:r>
                    </a:p>
                  </a:txBody>
                  <a:tcPr marL="109728" marT="45720" marB="45720" anchor="ctr"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Données / inférence</a:t>
                      </a:r>
                    </a:p>
                  </a:txBody>
                  <a:tcPr marL="109728" marT="45720" marB="45720" anchor="ctr"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LLM</a:t>
                      </a:r>
                    </a:p>
                  </a:txBody>
                  <a:tcPr marL="109728" marT="45720" marB="45720" anchor="ctr"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100 % local</a:t>
                      </a:r>
                    </a:p>
                  </a:txBody>
                  <a:tcPr marL="109728" marT="45720" marB="45720" anchor="ctr">
                    <a:solidFill>
                      <a:srgbClr val="1E2A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05C"/>
                          </a:solidFill>
                          <a:latin typeface="Georgia"/>
                        </a:rPr>
                        <a:t>GitHub CodeQL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05C"/>
                          </a:solidFill>
                          <a:latin typeface="Segoe UI"/>
                        </a:rPr>
                        <a:t>Cloud GitHub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05C"/>
                          </a:solidFill>
                          <a:latin typeface="Segoe UI"/>
                        </a:rPr>
                        <a:t>Non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23A48"/>
                          </a:solidFill>
                          <a:latin typeface="Segoe UI"/>
                        </a:rPr>
                        <a:t>Non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05C"/>
                          </a:solidFill>
                          <a:latin typeface="Georgia"/>
                        </a:rPr>
                        <a:t>Snyk</a:t>
                      </a:r>
                    </a:p>
                  </a:txBody>
                  <a:tcPr marL="109728" marT="45720" marB="45720" anchor="ctr"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05C"/>
                          </a:solidFill>
                          <a:latin typeface="Segoe UI"/>
                        </a:rPr>
                        <a:t>Code envoyé au cloud</a:t>
                      </a:r>
                    </a:p>
                  </a:txBody>
                  <a:tcPr marL="109728" marT="45720" marB="45720" anchor="ctr"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05C"/>
                          </a:solidFill>
                          <a:latin typeface="Segoe UI"/>
                        </a:rPr>
                        <a:t>Limité</a:t>
                      </a:r>
                    </a:p>
                  </a:txBody>
                  <a:tcPr marL="109728" marT="45720" marB="45720" anchor="ctr"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23A48"/>
                          </a:solidFill>
                          <a:latin typeface="Segoe UI"/>
                        </a:rPr>
                        <a:t>Non</a:t>
                      </a:r>
                    </a:p>
                  </a:txBody>
                  <a:tcPr marL="109728" marT="45720" marB="45720" anchor="ctr">
                    <a:solidFill>
                      <a:srgbClr val="F3EEE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05C"/>
                          </a:solidFill>
                          <a:latin typeface="Georgia"/>
                        </a:rPr>
                        <a:t>SonarQube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05C"/>
                          </a:solidFill>
                          <a:latin typeface="Segoe UI"/>
                        </a:rPr>
                        <a:t>Auto-hébergeable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05C"/>
                          </a:solidFill>
                          <a:latin typeface="Segoe UI"/>
                        </a:rPr>
                        <a:t>Non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05C"/>
                          </a:solidFill>
                          <a:latin typeface="Segoe UI"/>
                        </a:rPr>
                        <a:t>Règles statiques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05C"/>
                          </a:solidFill>
                          <a:latin typeface="Georgia"/>
                        </a:rPr>
                        <a:t>Copilot Autofix</a:t>
                      </a:r>
                    </a:p>
                  </a:txBody>
                  <a:tcPr marL="109728" marT="45720" marB="45720" anchor="ctr"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05C"/>
                          </a:solidFill>
                          <a:latin typeface="Segoe UI"/>
                        </a:rPr>
                        <a:t>Cloud</a:t>
                      </a:r>
                    </a:p>
                  </a:txBody>
                  <a:tcPr marL="109728" marT="45720" marB="45720" anchor="ctr"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05C"/>
                          </a:solidFill>
                          <a:latin typeface="Segoe UI"/>
                        </a:rPr>
                        <a:t>Oui</a:t>
                      </a:r>
                    </a:p>
                  </a:txBody>
                  <a:tcPr marL="109728" marT="45720" marB="45720" anchor="ctr"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23A48"/>
                          </a:solidFill>
                          <a:latin typeface="Segoe UI"/>
                        </a:rPr>
                        <a:t>Non</a:t>
                      </a:r>
                    </a:p>
                  </a:txBody>
                  <a:tcPr marL="109728" marT="45720" marB="45720" anchor="ctr">
                    <a:solidFill>
                      <a:srgbClr val="F3EEE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A44"/>
                          </a:solidFill>
                          <a:latin typeface="Georgia"/>
                        </a:rPr>
                        <a:t>BTE Security AI Agent</a:t>
                      </a:r>
                    </a:p>
                  </a:txBody>
                  <a:tcPr marL="109728" marT="45720" marB="45720"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44"/>
                          </a:solidFill>
                          <a:latin typeface="Segoe UI"/>
                        </a:rPr>
                        <a:t>Rien ne sort du VPS</a:t>
                      </a:r>
                    </a:p>
                  </a:txBody>
                  <a:tcPr marL="109728" marT="45720" marB="45720"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A44"/>
                          </a:solidFill>
                          <a:latin typeface="Segoe UI"/>
                        </a:rPr>
                        <a:t>Oui</a:t>
                      </a:r>
                    </a:p>
                  </a:txBody>
                  <a:tcPr marL="109728" marT="45720" marB="45720" anchor="ctr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7D52"/>
                          </a:solidFill>
                          <a:latin typeface="Segoe UI"/>
                        </a:rPr>
                        <a:t>OUI</a:t>
                      </a:r>
                    </a:p>
                  </a:txBody>
                  <a:tcPr marL="109728" marT="45720" marB="45720" anchor="ctr">
                    <a:solidFill>
                      <a:srgbClr val="EAF7F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44"/>
                </a:solidFill>
                <a:latin typeface="Georgia"/>
              </a:rPr>
              <a:t>Notre différenciateur : </a:t>
            </a:r>
            <a:r>
              <a:rPr sz="1300" b="1" i="0">
                <a:solidFill>
                  <a:srgbClr val="2F7D52"/>
                </a:solidFill>
                <a:latin typeface="Georgia"/>
              </a:rPr>
              <a:t>100 % local — confidentialité bancaire et conformité BCT.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Vue d'ensemble — 11 conteneurs, 4 couches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0821" y="1554480"/>
            <a:ext cx="4159477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ul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261" y="1645920"/>
            <a:ext cx="3976597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272783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256"/>
                </a:solidFill>
                <a:latin typeface="Segoe UI"/>
              </a:rPr>
              <a:t>Architecture globale du BTE Security AI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011680"/>
            <a:ext cx="128016" cy="822960"/>
          </a:xfrm>
          <a:prstGeom prst="round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A44"/>
                </a:solidFill>
                <a:latin typeface="Georgia"/>
              </a:rPr>
              <a:t>Entrée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05C"/>
                </a:solidFill>
                <a:latin typeface="Segoe UI"/>
              </a:rPr>
              <a:t>nginx — webhook HMAC, reverse proxy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3035808"/>
            <a:ext cx="128016" cy="822960"/>
          </a:xfrm>
          <a:prstGeom prst="roundRect">
            <a:avLst/>
          </a:prstGeom>
          <a:solidFill>
            <a:srgbClr val="3E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03580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A44"/>
                </a:solidFill>
                <a:latin typeface="Georgia"/>
              </a:rPr>
              <a:t>IA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05C"/>
                </a:solidFill>
                <a:latin typeface="Segoe UI"/>
              </a:rPr>
              <a:t>FastAPI + LangGraph + Ollama (7B/14B)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4059936"/>
            <a:ext cx="128016" cy="822960"/>
          </a:xfrm>
          <a:prstGeom prst="round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4059936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A44"/>
                </a:solidFill>
                <a:latin typeface="Georgia"/>
              </a:rPr>
              <a:t>Données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05C"/>
                </a:solidFill>
                <a:latin typeface="Segoe UI"/>
              </a:rPr>
              <a:t>PostgreSQL + Redis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5084064"/>
            <a:ext cx="128016" cy="822960"/>
          </a:xfrm>
          <a:prstGeom prst="roundRect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5084064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A44"/>
                </a:solidFill>
                <a:latin typeface="Georgia"/>
              </a:rPr>
              <a:t>Observabilité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05C"/>
                </a:solidFill>
                <a:latin typeface="Segoe UI"/>
              </a:rPr>
              <a:t>Prometheus · Grafana · AlertManager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04 · IA AGENTIQUE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Pourquoi c'est un AGENT, pas un appel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74519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2167127"/>
            <a:ext cx="502920" cy="502920"/>
          </a:xfrm>
          <a:prstGeom prst="ellipse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240279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185415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Perception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34639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05C"/>
                </a:solidFill>
                <a:latin typeface="Segoe UI"/>
              </a:rPr>
              <a:t>événements webhook GitHub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74519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63440" y="2167127"/>
            <a:ext cx="502920" cy="502920"/>
          </a:xfrm>
          <a:prstGeom prst="ellipse">
            <a:avLst/>
          </a:prstGeom>
          <a:solidFill>
            <a:srgbClr val="3E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240279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185415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Raisonnement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834639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05C"/>
                </a:solidFill>
                <a:latin typeface="Segoe UI"/>
              </a:rPr>
              <a:t>classe la PR, route le graphe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874519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21040" y="2167127"/>
            <a:ext cx="502920" cy="502920"/>
          </a:xfrm>
          <a:prstGeom prst="ellipse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240279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185415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834639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05C"/>
                </a:solidFill>
                <a:latin typeface="Segoe UI"/>
              </a:rPr>
              <a:t>commente, fixe le gate, escalade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931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" y="4224528"/>
            <a:ext cx="502920" cy="502920"/>
          </a:xfrm>
          <a:prstGeom prst="ellipse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976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24281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État &amp; reprise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8920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05C"/>
                </a:solidFill>
                <a:latin typeface="Segoe UI"/>
              </a:rPr>
              <a:t>checkpoints LangGraph (PostgreSQL)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931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63440" y="4224528"/>
            <a:ext cx="502920" cy="502920"/>
          </a:xfrm>
          <a:prstGeom prst="ellipse">
            <a:avLst/>
          </a:prstGeom>
          <a:solidFill>
            <a:srgbClr val="3E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42976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24281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Usage d'outils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8920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05C"/>
                </a:solidFill>
                <a:latin typeface="Segoe UI"/>
              </a:rPr>
              <a:t>19 outils réels (Docker, Prometheus…)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931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21040" y="4224528"/>
            <a:ext cx="502920" cy="502920"/>
          </a:xfrm>
          <a:prstGeom prst="ellipse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2976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24281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Auto-exploitation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8920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05C"/>
                </a:solidFill>
                <a:latin typeface="Segoe UI"/>
              </a:rPr>
              <a:t>scheduler, health digest, gardien disque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04 · IA AGENTIQUE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Le pipeline de revue — graphe LangGraph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0894" y="1508760"/>
            <a:ext cx="332205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nggraph_stat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334" y="1600200"/>
            <a:ext cx="3139170" cy="4617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272783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256"/>
                </a:solidFill>
                <a:latin typeface="Segoe UI"/>
              </a:rPr>
              <a:t>StateGraph à 9 nœuds avec routage conditionnel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1856231"/>
            <a:ext cx="256032" cy="256032"/>
          </a:xfrm>
          <a:prstGeom prst="ellipse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8" y="1856231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182880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05C"/>
                </a:solidFill>
                <a:latin typeface="Segoe UI"/>
              </a:rPr>
              <a:t>webhook (HMAC + dédup)</a:t>
            </a:r>
          </a:p>
        </p:txBody>
      </p:sp>
      <p:sp>
        <p:nvSpPr>
          <p:cNvPr id="18" name="Oval 17"/>
          <p:cNvSpPr/>
          <p:nvPr/>
        </p:nvSpPr>
        <p:spPr>
          <a:xfrm>
            <a:off x="7498079" y="2459736"/>
            <a:ext cx="256032" cy="256032"/>
          </a:xfrm>
          <a:prstGeom prst="ellipse">
            <a:avLst/>
          </a:prstGeom>
          <a:solidFill>
            <a:srgbClr val="3E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8" y="2459736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2432304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05C"/>
                </a:solidFill>
                <a:latin typeface="Segoe UI"/>
              </a:rPr>
              <a:t>classify  — LLM 7B (~30 s)</a:t>
            </a:r>
          </a:p>
        </p:txBody>
      </p:sp>
      <p:sp>
        <p:nvSpPr>
          <p:cNvPr id="21" name="Oval 20"/>
          <p:cNvSpPr/>
          <p:nvPr/>
        </p:nvSpPr>
        <p:spPr>
          <a:xfrm>
            <a:off x="7498079" y="3063240"/>
            <a:ext cx="256032" cy="256032"/>
          </a:xfrm>
          <a:prstGeom prst="ellipse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8" y="306324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303580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05C"/>
                </a:solidFill>
                <a:latin typeface="Segoe UI"/>
              </a:rPr>
              <a:t>route  — scanners selon la PR</a:t>
            </a:r>
          </a:p>
        </p:txBody>
      </p:sp>
      <p:sp>
        <p:nvSpPr>
          <p:cNvPr id="24" name="Oval 23"/>
          <p:cNvSpPr/>
          <p:nvPr/>
        </p:nvSpPr>
        <p:spPr>
          <a:xfrm>
            <a:off x="7498079" y="3666744"/>
            <a:ext cx="256032" cy="256032"/>
          </a:xfrm>
          <a:prstGeom prst="ellipse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6368" y="3666744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7" y="363931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05C"/>
                </a:solidFill>
                <a:latin typeface="Segoe UI"/>
              </a:rPr>
              <a:t>scan  — 5 SAST en parallèle</a:t>
            </a:r>
          </a:p>
        </p:txBody>
      </p:sp>
      <p:sp>
        <p:nvSpPr>
          <p:cNvPr id="27" name="Oval 26"/>
          <p:cNvSpPr/>
          <p:nvPr/>
        </p:nvSpPr>
        <p:spPr>
          <a:xfrm>
            <a:off x="7498079" y="4270248"/>
            <a:ext cx="256032" cy="256032"/>
          </a:xfrm>
          <a:prstGeom prst="ellipse">
            <a:avLst/>
          </a:prstGeom>
          <a:solidFill>
            <a:srgbClr val="3E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4270248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4242816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05C"/>
                </a:solidFill>
                <a:latin typeface="Segoe UI"/>
              </a:rPr>
              <a:t>analyze — LLM 14B + OWASP</a:t>
            </a:r>
          </a:p>
        </p:txBody>
      </p:sp>
      <p:sp>
        <p:nvSpPr>
          <p:cNvPr id="30" name="Oval 29"/>
          <p:cNvSpPr/>
          <p:nvPr/>
        </p:nvSpPr>
        <p:spPr>
          <a:xfrm>
            <a:off x="7498079" y="4873752"/>
            <a:ext cx="256032" cy="256032"/>
          </a:xfrm>
          <a:prstGeom prst="ellipse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16368" y="4873752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2127" y="484632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05C"/>
                </a:solidFill>
                <a:latin typeface="Segoe UI"/>
              </a:rPr>
              <a:t>verdict  — APPROVE / CHANGES / BLOCK</a:t>
            </a:r>
          </a:p>
        </p:txBody>
      </p:sp>
      <p:sp>
        <p:nvSpPr>
          <p:cNvPr id="33" name="Oval 32"/>
          <p:cNvSpPr/>
          <p:nvPr/>
        </p:nvSpPr>
        <p:spPr>
          <a:xfrm>
            <a:off x="7498079" y="5477256"/>
            <a:ext cx="256032" cy="256032"/>
          </a:xfrm>
          <a:prstGeom prst="ellipse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6368" y="5477256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5449824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05C"/>
                </a:solidFill>
                <a:latin typeface="Segoe UI"/>
              </a:rPr>
              <a:t>publish — commentaires + gate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04 · IA AGENTIQUE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Architecture à deux modèles — décision d'ingénierie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3572" y="1554480"/>
            <a:ext cx="521957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wo_mod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012" y="1645920"/>
            <a:ext cx="5036695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272783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256"/>
                </a:solidFill>
                <a:latin typeface="Segoe UI"/>
              </a:rPr>
              <a:t>7B pour classer · 14B pour analyser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874519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Le bon modèle pour la bonne tâche</a:t>
            </a:r>
          </a:p>
        </p:txBody>
      </p:sp>
      <p:sp>
        <p:nvSpPr>
          <p:cNvPr id="16" name="Oval 15"/>
          <p:cNvSpPr/>
          <p:nvPr/>
        </p:nvSpPr>
        <p:spPr>
          <a:xfrm>
            <a:off x="7680960" y="2414016"/>
            <a:ext cx="146304" cy="146304"/>
          </a:xfrm>
          <a:prstGeom prst="ellipse">
            <a:avLst/>
          </a:prstGeom>
          <a:solidFill>
            <a:srgbClr val="3E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340864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44"/>
                </a:solidFill>
                <a:latin typeface="Georgia"/>
              </a:rPr>
              <a:t>qwen2.5-coder 7B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05C"/>
                </a:solidFill>
                <a:latin typeface="Segoe UI"/>
              </a:rPr>
              <a:t>classification rapide ~30 s</a:t>
            </a:r>
          </a:p>
        </p:txBody>
      </p:sp>
      <p:sp>
        <p:nvSpPr>
          <p:cNvPr id="18" name="Oval 17"/>
          <p:cNvSpPr/>
          <p:nvPr/>
        </p:nvSpPr>
        <p:spPr>
          <a:xfrm>
            <a:off x="7680960" y="3191256"/>
            <a:ext cx="146304" cy="146304"/>
          </a:xfrm>
          <a:prstGeom prst="ellipse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118104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44"/>
                </a:solidFill>
                <a:latin typeface="Georgia"/>
              </a:rPr>
              <a:t>qwen2.5-coder 14B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05C"/>
                </a:solidFill>
                <a:latin typeface="Segoe UI"/>
              </a:rPr>
              <a:t>analyse de sécurité approfondie</a:t>
            </a:r>
          </a:p>
        </p:txBody>
      </p:sp>
      <p:sp>
        <p:nvSpPr>
          <p:cNvPr id="20" name="Oval 19"/>
          <p:cNvSpPr/>
          <p:nvPr/>
        </p:nvSpPr>
        <p:spPr>
          <a:xfrm>
            <a:off x="7680960" y="3968496"/>
            <a:ext cx="146304" cy="146304"/>
          </a:xfrm>
          <a:prstGeom prst="ellipse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3895344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44"/>
                </a:solidFill>
                <a:latin typeface="Georgia"/>
              </a:rPr>
              <a:t>1 seul modèle en RAM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05C"/>
                </a:solidFill>
                <a:latin typeface="Segoe UI"/>
              </a:rPr>
              <a:t>OLLAMA_MAX_LOADED_MODELS=1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5074920"/>
            <a:ext cx="4023360" cy="91440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E3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521208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F7D52"/>
                </a:solidFill>
                <a:latin typeface="Georgia"/>
              </a:rPr>
              <a:t>−50 % </a:t>
            </a:r>
            <a:r>
              <a:rPr sz="1400" b="1" i="0">
                <a:solidFill>
                  <a:srgbClr val="1E2A44"/>
                </a:solidFill>
                <a:latin typeface="Georgia"/>
              </a:rPr>
              <a:t>de temps total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05C"/>
                </a:solidFill>
                <a:latin typeface="Segoe UI"/>
              </a:rPr>
              <a:t>fusion de 2 appels 14B en un seul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04 · IA AGENTIQUE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Confiance : le système anti-hallucination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655673"/>
            <a:ext cx="6035040" cy="45524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nti_hallucination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47113"/>
            <a:ext cx="5852160" cy="43696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272783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256"/>
                </a:solidFill>
                <a:latin typeface="Segoe UI"/>
              </a:rPr>
              <a:t>6 couches de protection empilées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8915" y="1645919"/>
            <a:ext cx="526161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nnotated_diff_form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355" y="1737360"/>
            <a:ext cx="5078730" cy="2834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0" y="462686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256"/>
                </a:solidFill>
                <a:latin typeface="Segoe UI"/>
              </a:rPr>
              <a:t>Diff annoté — parser anti-hallucination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98348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44"/>
                </a:solidFill>
                <a:latin typeface="Georgia"/>
              </a:rPr>
              <a:t>Le doute n°1 du jury sur les LLM : </a:t>
            </a:r>
            <a:r>
              <a:rPr sz="1300" b="0" i="1">
                <a:solidFill>
                  <a:srgbClr val="33405C"/>
                </a:solidFill>
                <a:latin typeface="Segoe UI"/>
              </a:rPr>
              <a:t>« peut-on lui faire confiance ? »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05C"/>
                </a:solidFill>
                <a:latin typeface="Segoe UI"/>
              </a:rPr>
              <a:t>temperature=0 · num_ctx maîtrisé · garde sans-outil · prompt anti-hallucination · observation verbatim · parser qui élimine les lignes inexistantes.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04 · IA AGENTIQUE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Seconde surface agentique : le chat opérationnel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6686" y="1554480"/>
            <a:ext cx="2401907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act_loo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126" y="1645920"/>
            <a:ext cx="2219027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272783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256"/>
                </a:solidFill>
                <a:latin typeface="Segoe UI"/>
              </a:rPr>
              <a:t>Boucle ReAct personnalisée — 19 outils de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920240"/>
            <a:ext cx="4206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E4C7A"/>
                </a:solidFill>
                <a:latin typeface="Georgia"/>
              </a:rPr>
              <a:t>« Quel est l'usage CPU ? »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05C"/>
                </a:solidFill>
                <a:latin typeface="Segoe UI"/>
              </a:rPr>
              <a:t>L'agent appelle un vrai outil </a:t>
            </a:r>
            <a:r>
              <a:rPr sz="1200" b="1" i="0">
                <a:solidFill>
                  <a:srgbClr val="1E2A44"/>
                </a:solidFill>
                <a:latin typeface="Consolas"/>
              </a:rPr>
              <a:t>(vps_status)</a:t>
            </a:r>
            <a:r>
              <a:rPr sz="1300" b="0" i="0">
                <a:solidFill>
                  <a:srgbClr val="33405C"/>
                </a:solidFill>
                <a:latin typeface="Segoe UI"/>
              </a:rPr>
              <a:t> et répond avec la valeur réelle — jamais inventée.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291840"/>
            <a:ext cx="457200" cy="384048"/>
          </a:xfrm>
          <a:prstGeom prst="round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3319272"/>
            <a:ext cx="457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34670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05C"/>
                </a:solidFill>
                <a:latin typeface="Segoe UI"/>
              </a:rPr>
              <a:t>VPS / Host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794760"/>
            <a:ext cx="457200" cy="384048"/>
          </a:xfrm>
          <a:prstGeom prst="round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822192"/>
            <a:ext cx="457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84962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05C"/>
                </a:solidFill>
                <a:latin typeface="Segoe UI"/>
              </a:rPr>
              <a:t>Docker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297680"/>
            <a:ext cx="457200" cy="384048"/>
          </a:xfrm>
          <a:prstGeom prst="round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4325112"/>
            <a:ext cx="457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435254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05C"/>
                </a:solidFill>
                <a:latin typeface="Segoe UI"/>
              </a:rPr>
              <a:t>Prometheus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4800600"/>
            <a:ext cx="457200" cy="384048"/>
          </a:xfrm>
          <a:prstGeom prst="round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828032"/>
            <a:ext cx="457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85546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05C"/>
                </a:solidFill>
                <a:latin typeface="Segoe UI"/>
              </a:rPr>
              <a:t>Ollama / Redis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5303520"/>
            <a:ext cx="457200" cy="384048"/>
          </a:xfrm>
          <a:prstGeom prst="round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5330952"/>
            <a:ext cx="457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535838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05C"/>
                </a:solidFill>
                <a:latin typeface="Segoe UI"/>
              </a:rPr>
              <a:t>Artifacts / BD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05 · 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Défense en profondeur : 5 scanners +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7616" y="1554480"/>
            <a:ext cx="683436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st_tool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56" y="1645920"/>
            <a:ext cx="665148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272783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256"/>
                </a:solidFill>
                <a:latin typeface="Segoe UI"/>
              </a:rPr>
              <a:t>5 outils SAST en parallèle — couverture OWASP Top 10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920240"/>
            <a:ext cx="1645920" cy="310896"/>
          </a:xfrm>
          <a:prstGeom prst="round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938528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Trivy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19385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05C"/>
                </a:solidFill>
                <a:latin typeface="Segoe UI"/>
              </a:rPr>
              <a:t>CVE &amp; images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423160"/>
            <a:ext cx="1645920" cy="310896"/>
          </a:xfrm>
          <a:prstGeom prst="round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441448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Gitleaks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4414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05C"/>
                </a:solidFill>
                <a:latin typeface="Segoe UI"/>
              </a:rPr>
              <a:t>secrets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926080"/>
            <a:ext cx="1645920" cy="310896"/>
          </a:xfrm>
          <a:prstGeom prst="round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2944368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Semgrep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9443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05C"/>
                </a:solidFill>
                <a:latin typeface="Segoe UI"/>
              </a:rPr>
              <a:t>OWASP code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3429000"/>
            <a:ext cx="1645920" cy="310896"/>
          </a:xfrm>
          <a:prstGeom prst="round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3447288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Checkov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4472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05C"/>
                </a:solidFill>
                <a:latin typeface="Segoe UI"/>
              </a:rPr>
              <a:t>IaC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931920"/>
            <a:ext cx="1645920" cy="310896"/>
          </a:xfrm>
          <a:prstGeom prst="round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3950207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OSV-Scanner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95020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05C"/>
                </a:solidFill>
                <a:latin typeface="Segoe UI"/>
              </a:rPr>
              <a:t>dépendances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4617720"/>
            <a:ext cx="3886200" cy="1371600"/>
          </a:xfrm>
          <a:prstGeom prst="roundRect">
            <a:avLst/>
          </a:prstGeom>
          <a:solidFill>
            <a:srgbClr val="F3F0FD"/>
          </a:solidFill>
          <a:ln w="12700">
            <a:solidFill>
              <a:srgbClr val="E3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4754880"/>
            <a:ext cx="3566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E4C7A"/>
                </a:solidFill>
                <a:latin typeface="Georgia"/>
              </a:rPr>
              <a:t>Complémentarité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05C"/>
                </a:solidFill>
                <a:latin typeface="Segoe UI"/>
              </a:rPr>
              <a:t>Le LLM a capté des secrets en dur que Gitleaks avait manqués — les scanners et l'IA se renforcent.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05 · 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Bénéfices : AS-IS vs TO-BE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12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182880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657600"/>
                <a:gridCol w="4389120"/>
              </a:tblGrid>
              <a:tr h="6705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Critère</a:t>
                      </a:r>
                    </a:p>
                  </a:txBody>
                  <a:tcPr marL="128016" anchor="ctr" marT="54864" marB="54864"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AS-IS — manuel</a:t>
                      </a:r>
                    </a:p>
                  </a:txBody>
                  <a:tcPr marL="128016" anchor="ctr" marT="54864" marB="54864"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TO-BE — agent IA</a:t>
                      </a:r>
                    </a:p>
                  </a:txBody>
                  <a:tcPr marL="128016" anchor="ctr" marT="54864" marB="54864">
                    <a:solidFill>
                      <a:srgbClr val="2F7D52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2A44"/>
                          </a:solidFill>
                          <a:latin typeface="Georgia"/>
                        </a:rPr>
                        <a:t>Délai de revue</a:t>
                      </a:r>
                    </a:p>
                  </a:txBody>
                  <a:tcPr marL="128016" anchor="ctr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405C"/>
                          </a:solidFill>
                          <a:latin typeface="Segoe UI"/>
                        </a:rPr>
                        <a:t>&gt; 48 h</a:t>
                      </a:r>
                    </a:p>
                  </a:txBody>
                  <a:tcPr marL="128016" anchor="ctr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7A46"/>
                          </a:solidFill>
                          <a:latin typeface="Segoe UI"/>
                        </a:rPr>
                        <a:t>15–25 min</a:t>
                      </a:r>
                    </a:p>
                  </a:txBody>
                  <a:tcPr marL="128016" anchor="ctr" marT="54864" marB="54864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2A44"/>
                          </a:solidFill>
                          <a:latin typeface="Georgia"/>
                        </a:rPr>
                        <a:t>Couverture</a:t>
                      </a:r>
                    </a:p>
                  </a:txBody>
                  <a:tcPr marL="128016" anchor="ctr" marT="54864" marB="54864"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405C"/>
                          </a:solidFill>
                          <a:latin typeface="Segoe UI"/>
                        </a:rPr>
                        <a:t>variable selon le relecteur</a:t>
                      </a:r>
                    </a:p>
                  </a:txBody>
                  <a:tcPr marL="128016" anchor="ctr" marT="54864" marB="54864"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7A46"/>
                          </a:solidFill>
                          <a:latin typeface="Segoe UI"/>
                        </a:rPr>
                        <a:t>OWASP Top 10 systématique</a:t>
                      </a:r>
                    </a:p>
                  </a:txBody>
                  <a:tcPr marL="128016" anchor="ctr" marT="54864" marB="54864">
                    <a:solidFill>
                      <a:srgbClr val="F3EEE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2A44"/>
                          </a:solidFill>
                          <a:latin typeface="Georgia"/>
                        </a:rPr>
                        <a:t>Gate CI/CD</a:t>
                      </a:r>
                    </a:p>
                  </a:txBody>
                  <a:tcPr marL="128016" anchor="ctr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405C"/>
                          </a:solidFill>
                          <a:latin typeface="Segoe UI"/>
                        </a:rPr>
                        <a:t>aucun</a:t>
                      </a:r>
                    </a:p>
                  </a:txBody>
                  <a:tcPr marL="128016" anchor="ctr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7A46"/>
                          </a:solidFill>
                          <a:latin typeface="Segoe UI"/>
                        </a:rPr>
                        <a:t>APPROVE / REQUEST_CHANGES / BLOCK</a:t>
                      </a:r>
                    </a:p>
                  </a:txBody>
                  <a:tcPr marL="128016" anchor="ctr" marT="54864" marB="54864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2A44"/>
                          </a:solidFill>
                          <a:latin typeface="Georgia"/>
                        </a:rPr>
                        <a:t>Confidentialité</a:t>
                      </a:r>
                    </a:p>
                  </a:txBody>
                  <a:tcPr marL="128016" anchor="ctr" marT="54864" marB="54864"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40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28016" anchor="ctr" marT="54864" marB="54864"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7A46"/>
                          </a:solidFill>
                          <a:latin typeface="Segoe UI"/>
                        </a:rPr>
                        <a:t>100 % local (conformité BCT)</a:t>
                      </a:r>
                    </a:p>
                  </a:txBody>
                  <a:tcPr marL="128016" anchor="ctr" marT="54864" marB="54864">
                    <a:solidFill>
                      <a:srgbClr val="F3EEE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2A44"/>
                          </a:solidFill>
                          <a:latin typeface="Georgia"/>
                        </a:rPr>
                        <a:t>Traçabilité</a:t>
                      </a:r>
                    </a:p>
                  </a:txBody>
                  <a:tcPr marL="128016" anchor="ctr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405C"/>
                          </a:solidFill>
                          <a:latin typeface="Segoe UI"/>
                        </a:rPr>
                        <a:t>historique GitHub</a:t>
                      </a:r>
                    </a:p>
                  </a:txBody>
                  <a:tcPr marL="128016" anchor="ctr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7A46"/>
                          </a:solidFill>
                          <a:latin typeface="Segoe UI"/>
                        </a:rPr>
                        <a:t>base PostgreSQL + dashboard RSSI</a:t>
                      </a:r>
                    </a:p>
                  </a:txBody>
                  <a:tcPr marL="128016" anchor="ctr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06 · DÉMONSTRATION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PR #18 — revue en conditions réelles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49674"/>
            <a:ext cx="6583680" cy="361021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_comment-security-review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1114"/>
            <a:ext cx="6400800" cy="3427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27278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256"/>
                </a:solidFill>
                <a:latin typeface="Segoe UI"/>
              </a:rPr>
              <a:t>Revue de sécurité publiée automatiquement sur la Pull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Ce que fait l'agent, sans intervention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2505456"/>
            <a:ext cx="146304" cy="146304"/>
          </a:xfrm>
          <a:prstGeom prst="ellipse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245059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05C"/>
                </a:solidFill>
                <a:latin typeface="Segoe UI"/>
              </a:rPr>
              <a:t>Reçoit le webhook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3054096"/>
            <a:ext cx="146304" cy="146304"/>
          </a:xfrm>
          <a:prstGeom prst="ellipse">
            <a:avLst/>
          </a:prstGeom>
          <a:solidFill>
            <a:srgbClr val="3E4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99923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05C"/>
                </a:solidFill>
                <a:latin typeface="Segoe UI"/>
              </a:rPr>
              <a:t>Lance 5 scanners + LLM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0" y="3602736"/>
            <a:ext cx="146304" cy="146304"/>
          </a:xfrm>
          <a:prstGeom prst="ellipse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05C"/>
                </a:solidFill>
                <a:latin typeface="Segoe UI"/>
              </a:rPr>
              <a:t>Poste les commentaires inline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0" y="4151376"/>
            <a:ext cx="146304" cy="146304"/>
          </a:xfrm>
          <a:prstGeom prst="ellipse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409651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05C"/>
                </a:solidFill>
                <a:latin typeface="Segoe UI"/>
              </a:rPr>
              <a:t>Suggère les correctifs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892040"/>
            <a:ext cx="4480560" cy="548640"/>
          </a:xfrm>
          <a:prstGeom prst="round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4910327"/>
            <a:ext cx="4480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VERDICT :  BLOCK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5321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B6256"/>
                </a:solidFill>
                <a:latin typeface="Segoe UI"/>
              </a:rPr>
              <a:t>→ gate commit rouge, fusion bloquée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06 ·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Preuve : détection mesurée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20240"/>
            <a:ext cx="5120640" cy="274320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6400" b="1" i="0">
                <a:solidFill>
                  <a:srgbClr val="2F7D52"/>
                </a:solidFill>
                <a:latin typeface="Georgia"/>
              </a:rPr>
              <a:t>5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E2A44"/>
                </a:solidFill>
                <a:latin typeface="Georgia"/>
              </a:rPr>
              <a:t>vulnérabilités plantées détectées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6256"/>
                </a:solidFill>
                <a:latin typeface="Segoe UI"/>
              </a:rPr>
              <a:t>sur la PR #18 de démonstration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659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Les 5 failles couvertes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551176"/>
            <a:ext cx="164592" cy="164592"/>
          </a:xfrm>
          <a:prstGeom prst="ellipse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49631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05C"/>
                </a:solidFill>
                <a:latin typeface="Segoe UI"/>
              </a:rPr>
              <a:t>Injection SQL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054096"/>
            <a:ext cx="164592" cy="164592"/>
          </a:xfrm>
          <a:prstGeom prst="ellipse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9992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05C"/>
                </a:solidFill>
                <a:latin typeface="Segoe UI"/>
              </a:rPr>
              <a:t>Secrets en dur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557015"/>
            <a:ext cx="164592" cy="164592"/>
          </a:xfrm>
          <a:prstGeom prst="ellipse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502151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05C"/>
                </a:solidFill>
                <a:latin typeface="Segoe UI"/>
              </a:rPr>
              <a:t>Path traversal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4059935"/>
            <a:ext cx="164592" cy="164592"/>
          </a:xfrm>
          <a:prstGeom prst="ellipse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00507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05C"/>
                </a:solidFill>
                <a:latin typeface="Segoe UI"/>
              </a:rPr>
              <a:t>Injection de commande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4562855"/>
            <a:ext cx="164592" cy="164592"/>
          </a:xfrm>
          <a:prstGeom prst="ellipse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50799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05C"/>
                </a:solidFill>
                <a:latin typeface="Segoe UI"/>
              </a:rPr>
              <a:t>Hachage faible (MD5)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21208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A44"/>
                </a:solidFill>
                <a:latin typeface="Georgia"/>
              </a:rPr>
              <a:t>+ corpus de 8 revues réelles</a:t>
            </a:r>
            <a:r>
              <a:rPr sz="1300" b="0" i="0">
                <a:solidFill>
                  <a:srgbClr val="33405C"/>
                </a:solidFill>
                <a:latin typeface="Segoe UI"/>
              </a:rPr>
              <a:t>  persistées dans PostgreSQL.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B6256"/>
                </a:solidFill>
                <a:latin typeface="Segoe UI"/>
              </a:rPr>
              <a:t>Périmètre assumé : jeu contrôlé, pas un benchmark à l'échelle.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07 · ROBUSTESSE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Maturité production : observabilité &amp; incidents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25371"/>
            <a:ext cx="6766560" cy="375589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rafana_pr_review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16811"/>
            <a:ext cx="6583680" cy="35730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5769864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256"/>
                </a:solidFill>
                <a:latin typeface="Segoe UI"/>
              </a:rPr>
              <a:t>Dashboard Grafana — PR Security 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874519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A44"/>
                </a:solidFill>
                <a:latin typeface="Georgia"/>
              </a:rPr>
              <a:t>3 incidents réels survécus</a:t>
            </a:r>
          </a:p>
        </p:txBody>
      </p:sp>
      <p:sp>
        <p:nvSpPr>
          <p:cNvPr id="16" name="Oval 15"/>
          <p:cNvSpPr/>
          <p:nvPr/>
        </p:nvSpPr>
        <p:spPr>
          <a:xfrm>
            <a:off x="7498079" y="2459736"/>
            <a:ext cx="146304" cy="146304"/>
          </a:xfrm>
          <a:prstGeom prst="ellipse">
            <a:avLst/>
          </a:prstGeom>
          <a:solidFill>
            <a:srgbClr val="C5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386584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44"/>
                </a:solidFill>
                <a:latin typeface="Georgia"/>
              </a:rPr>
              <a:t>Urgence disque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05C"/>
                </a:solidFill>
                <a:latin typeface="Segoe UI"/>
              </a:rPr>
              <a:t>gardien auto-réparateur à 90 %</a:t>
            </a:r>
          </a:p>
        </p:txBody>
      </p:sp>
      <p:sp>
        <p:nvSpPr>
          <p:cNvPr id="18" name="Oval 17"/>
          <p:cNvSpPr/>
          <p:nvPr/>
        </p:nvSpPr>
        <p:spPr>
          <a:xfrm>
            <a:off x="7498079" y="3209544"/>
            <a:ext cx="146304" cy="146304"/>
          </a:xfrm>
          <a:prstGeom prst="ellipse">
            <a:avLst/>
          </a:prstGeom>
          <a:solidFill>
            <a:srgbClr val="C5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3136391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44"/>
                </a:solidFill>
                <a:latin typeface="Georgia"/>
              </a:rPr>
              <a:t>AlertManager cassé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05C"/>
                </a:solidFill>
                <a:latin typeface="Segoe UI"/>
              </a:rPr>
              <a:t>détecté par l'observabilité</a:t>
            </a:r>
          </a:p>
        </p:txBody>
      </p:sp>
      <p:sp>
        <p:nvSpPr>
          <p:cNvPr id="20" name="Oval 19"/>
          <p:cNvSpPr/>
          <p:nvPr/>
        </p:nvSpPr>
        <p:spPr>
          <a:xfrm>
            <a:off x="7498079" y="3959352"/>
            <a:ext cx="146304" cy="146304"/>
          </a:xfrm>
          <a:prstGeom prst="ellipse">
            <a:avLst/>
          </a:prstGeom>
          <a:solidFill>
            <a:srgbClr val="C5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88620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A44"/>
                </a:solidFill>
                <a:latin typeface="Georgia"/>
              </a:rPr>
              <a:t>Bug template Phi-4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05C"/>
                </a:solidFill>
                <a:latin typeface="Segoe UI"/>
              </a:rPr>
              <a:t>corrigé et documenté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846320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05C"/>
                </a:solidFill>
                <a:latin typeface="Segoe UI"/>
              </a:rPr>
              <a:t>Prometheus · VictoriaMetrics · Grafana · AlertManager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Georgia"/>
              </a:rPr>
              <a:t>28 métriques · 15 règles d'alerte · rétention 90 j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" cy="86868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A82"/>
                </a:solidFill>
                <a:latin typeface="Segoe UI"/>
              </a:rPr>
              <a:t>07 ·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E2A44"/>
                </a:solidFill>
                <a:latin typeface="Georgia"/>
              </a:rPr>
              <a:t>Limites assumées &amp; perspectives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417320"/>
            <a:ext cx="146304" cy="146304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1371600" cy="18288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256"/>
                </a:solidFill>
                <a:latin typeface="Segoe UI"/>
              </a:rPr>
              <a:t>BTE Security AI Agent</a:t>
            </a:r>
            <a:r>
              <a:rPr sz="900" b="0" i="0">
                <a:solidFill>
                  <a:srgbClr val="6B6256"/>
                </a:solidFill>
                <a:latin typeface="Segoe UI"/>
              </a:rPr>
              <a:t>  ·  Ghaith Ferchichi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556248"/>
            <a:ext cx="91440" cy="91440"/>
          </a:xfrm>
          <a:prstGeom prst="rect">
            <a:avLst/>
          </a:prstGeom>
          <a:solidFill>
            <a:srgbClr val="15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A44"/>
                </a:solidFill>
                <a:latin typeface="Georgia"/>
              </a:rPr>
              <a:t>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28800"/>
            <a:ext cx="5212080" cy="4023360"/>
          </a:xfrm>
          <a:prstGeom prst="roundRect">
            <a:avLst/>
          </a:prstGeom>
          <a:solidFill>
            <a:srgbClr val="F3EEE3"/>
          </a:solidFill>
          <a:ln w="12700">
            <a:solidFill>
              <a:srgbClr val="E3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11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23A48"/>
                </a:solidFill>
                <a:latin typeface="Georgia"/>
              </a:rPr>
              <a:t>Limites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56032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23A48"/>
                </a:solidFill>
                <a:latin typeface="Georgia"/>
              </a:rPr>
              <a:t>•  </a:t>
            </a:r>
            <a:r>
              <a:rPr sz="1300" b="0" i="0">
                <a:solidFill>
                  <a:srgbClr val="33405C"/>
                </a:solidFill>
                <a:latin typeface="Segoe UI"/>
              </a:rPr>
              <a:t>Inférence CPU : ~3 tokens/s (15–25 min/PR)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290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23A48"/>
                </a:solidFill>
                <a:latin typeface="Georgia"/>
              </a:rPr>
              <a:t>•  </a:t>
            </a:r>
            <a:r>
              <a:rPr sz="1300" b="0" i="0">
                <a:solidFill>
                  <a:srgbClr val="33405C"/>
                </a:solidFill>
                <a:latin typeface="Segoe UI"/>
              </a:rPr>
              <a:t>Durcissement : ports ouverts, mot de passe Redis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97679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23A48"/>
                </a:solidFill>
                <a:latin typeface="Georgia"/>
              </a:rPr>
              <a:t>•  </a:t>
            </a:r>
            <a:r>
              <a:rPr sz="1300" b="0" i="0">
                <a:solidFill>
                  <a:srgbClr val="33405C"/>
                </a:solidFill>
                <a:latin typeface="Segoe UI"/>
              </a:rPr>
              <a:t>Corpus d'évaluation restreint (jeu contrôlé)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28800"/>
            <a:ext cx="5120640" cy="4023360"/>
          </a:xfrm>
          <a:prstGeom prst="roundRect">
            <a:avLst/>
          </a:prstGeom>
          <a:solidFill>
            <a:srgbClr val="ECFBFD"/>
          </a:solidFill>
          <a:ln w="12700">
            <a:solidFill>
              <a:srgbClr val="E3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116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F7D52"/>
                </a:solidFill>
                <a:latin typeface="Georgia"/>
              </a:rPr>
              <a:t>Perspectives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56032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F7D52"/>
                </a:solidFill>
                <a:latin typeface="Georgia"/>
              </a:rPr>
              <a:t>•  </a:t>
            </a:r>
            <a:r>
              <a:rPr sz="1300" b="0" i="0">
                <a:solidFill>
                  <a:srgbClr val="33405C"/>
                </a:solidFill>
                <a:latin typeface="Segoe UI"/>
              </a:rPr>
              <a:t>Migration GPU : 30–50 tok/s → 2–5 min/PR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42900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F7D52"/>
                </a:solidFill>
                <a:latin typeface="Georgia"/>
              </a:rPr>
              <a:t>•  </a:t>
            </a:r>
            <a:r>
              <a:rPr sz="1300" b="0" i="0">
                <a:solidFill>
                  <a:srgbClr val="33405C"/>
                </a:solidFill>
                <a:latin typeface="Segoe UI"/>
              </a:rPr>
              <a:t>Passage à l'échelle de tous les dépôts BTE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97679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F7D52"/>
                </a:solidFill>
                <a:latin typeface="Georgia"/>
              </a:rPr>
              <a:t>•  </a:t>
            </a:r>
            <a:r>
              <a:rPr sz="1300" b="0" i="0">
                <a:solidFill>
                  <a:srgbClr val="33405C"/>
                </a:solidFill>
                <a:latin typeface="Segoe UI"/>
              </a:rPr>
              <a:t>Plan de durcissement production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515600" cy="18288"/>
          </a:xfrm>
          <a:prstGeom prst="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2194560" cy="18288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7A82"/>
                </a:solidFill>
                <a:latin typeface="Segoe U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E2A44"/>
                </a:solidFill>
                <a:latin typeface="Georgia"/>
              </a:rPr>
              <a:t>Un agent IA agentique, déployé en production à la BTE,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E2A44"/>
                </a:solidFill>
                <a:latin typeface="Georgia"/>
              </a:rPr>
              <a:t>qui sécurise chaque Pull Request </a:t>
            </a:r>
            <a:r>
              <a:rPr sz="2600" b="1" i="0">
                <a:solidFill>
                  <a:srgbClr val="157A82"/>
                </a:solidFill>
                <a:latin typeface="Georgia"/>
              </a:rPr>
              <a:t>sans qu'aucun code ne quitte la banque.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6908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069080"/>
            <a:ext cx="91440" cy="118872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57A82"/>
                </a:solidFill>
                <a:latin typeface="Georgia"/>
              </a:rPr>
              <a:t>48 h → 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256"/>
                </a:solidFill>
                <a:latin typeface="Segoe UI"/>
              </a:rPr>
              <a:t>délai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06908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4069080"/>
            <a:ext cx="91440" cy="118872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2976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57A82"/>
                </a:solidFill>
                <a:latin typeface="Georgia"/>
              </a:rPr>
              <a:t>5/5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892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256"/>
                </a:solidFill>
                <a:latin typeface="Segoe UI"/>
              </a:rPr>
              <a:t>détection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06908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D"/>
            </a:solidFill>
          </a:ln>
          <a:effectLst/>
          <a:effectLst>
            <a:outerShdw blurRad="90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4069080"/>
            <a:ext cx="91440" cy="1188720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2976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57A82"/>
                </a:solidFill>
                <a:latin typeface="Georgia"/>
              </a:rPr>
              <a:t>100 %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892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256"/>
                </a:solidFill>
                <a:latin typeface="Segoe UI"/>
              </a:rPr>
              <a:t>conformité BCT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2912E"/>
                </a:solidFill>
                <a:latin typeface="Georgia"/>
              </a:rPr>
              <a:t>Plateforme remise à la BTE  ·  Merci de votre attention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355080"/>
            <a:ext cx="10515600" cy="18288"/>
          </a:xfrm>
          <a:prstGeom prst="rect">
            <a:avLst/>
          </a:prstGeom>
          <a:solidFill>
            <a:srgbClr val="E3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